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1. In-sample 1-year GDP growth RMSE across M0-M4 for 39 countries (lower is better).</a:t>
            </a:r>
          </a:p>
        </p:txBody>
      </p:sp>
      <p:pic>
        <p:nvPicPr>
          <p:cNvPr id="3" name="Picture 2" descr="fig1_m_rank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In-sample 1-year GDP growth RMSE across M0-M4 for 39 countries (lower is better).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2. Out-of-sample MAPE on 2015-19 held-out window; M2 achieves 13% relative improvement vs M0.</a:t>
            </a:r>
          </a:p>
        </p:txBody>
      </p:sp>
      <p:pic>
        <p:nvPicPr>
          <p:cNvPr id="3" name="Picture 2" descr="fig2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Out-of-sample MAPE on 2015-19 held-out window; M2 achieves 13% relative improvement vs M0.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3. PIM stock K_tang+betaK_I versus CWON PCA (within-country demeaned log).</a:t>
            </a:r>
          </a:p>
        </p:txBody>
      </p:sp>
      <p:pic>
        <p:nvPicPr>
          <p:cNvPr id="3" name="Picture 2" descr="fig3_trajector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PIM stock K_tang+betaK_I versus CWON PCA (within-country demeaned log).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4. gamma_price sensitivity of PIM/CWON log-ratio; Japan gap closes around gamma=+0.02.</a:t>
            </a:r>
          </a:p>
        </p:txBody>
      </p:sp>
      <p:pic>
        <p:nvPicPr>
          <p:cNvPr id="3" name="Picture 2" descr="fig4_gamma_pri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gamma_price sensitivity of PIM/CWON log-ratio; Japan gap closes around gamma=+0.02.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5. Conceptual diagram of the population-capital tempo correspondence.</a:t>
            </a:r>
          </a:p>
        </p:txBody>
      </p:sp>
      <p:pic>
        <p:nvPicPr>
          <p:cNvPr id="3" name="Picture 2" descr="fig5_concep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Conceptual diagram of the population-capital tempo correspondence.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
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1. In-sample 1-year GDP growth RMSE across M0–M4 for 39 countries (lower is better).</a:t>
            </a:r>
          </a:p>
        </p:txBody>
      </p:sp>
      <p:pic>
        <p:nvPicPr>
          <p:cNvPr id="3" name="Picture 2" descr="fig1_m_rank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In-sample 1-year GDP growth RMSE across M0–M4 for 39 countries (lower is better).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1. Out-of-sample MAPE on 2015–19 held-out window; M2 achieves 13% relative improvement vs M0.</a:t>
            </a:r>
          </a:p>
        </p:txBody>
      </p:sp>
      <p:pic>
        <p:nvPicPr>
          <p:cNvPr id="3" name="Picture 2" descr="fig2_o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Out-of-sample MAPE on 2015–19 held-out window; M2 achieves 13% relative improvement vs M0.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2. PIM tangible-plus-intangible stock versus CWON PCA (within-country demeaned log).</a:t>
            </a:r>
          </a:p>
        </p:txBody>
      </p:sp>
      <p:pic>
        <p:nvPicPr>
          <p:cNvPr id="3" name="Picture 2" descr="fig3_trajectori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PIM tangible-plus-intangible stock versus CWON PCA (within-country demeaned log).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4. Price-sensitivity of the PIM/CWON log-ratio. Left: selected countries. Right: cross-country zero-crossing γ_price; all roots lie outside the explored [-0.04, +0.04] range.</a:t>
            </a:r>
          </a:p>
        </p:txBody>
      </p:sp>
      <p:pic>
        <p:nvPicPr>
          <p:cNvPr id="3" name="Picture 2" descr="fig4_gamma_pri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Price-sensitivity of the PIM/CWON log-ratio. Left: selected countries. Right: cross-country zero-crossing γ_price; all roots lie outside the explored [-0.04, +0.04]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5. Conceptual diagram of the population-capital tempo correspondence.</a:t>
            </a:r>
          </a:p>
        </p:txBody>
      </p:sp>
      <p:pic>
        <p:nvPicPr>
          <p:cNvPr id="3" name="Picture 2" descr="fig5_concep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Conceptual diagram of the population-capital tempo correspondence.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6. Relational PIM diagnostics: ρ̂₂ across 39 countries under M0 vs M4.</a:t>
            </a:r>
          </a:p>
        </p:txBody>
      </p:sp>
      <p:pic>
        <p:nvPicPr>
          <p:cNvPr id="3" name="Picture 2" descr="fig6_rpi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Relational PIM diagnostics: ρ̂₂ across 39 countries under M0 vs M4.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7. Depreciation–lag sensitivity: estimated μ̂ under ±20% depreciation perturbations.</a:t>
            </a:r>
          </a:p>
        </p:txBody>
      </p:sp>
      <p:pic>
        <p:nvPicPr>
          <p:cNvPr id="3" name="Picture 2" descr="fig7_delta_sensitivi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Depreciation–lag sensitivity: estimated μ̂ under ±20% depreciation perturbations.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8. Conditional OOS evaluation: interior-solution vs boundary countries.</a:t>
            </a:r>
          </a:p>
        </p:txBody>
      </p:sp>
      <p:pic>
        <p:nvPicPr>
          <p:cNvPr id="3" name="Picture 2" descr="fig8_conditional_o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Conditional OOS evaluation: interior-solution vs boundary countries.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3. Cross-sectional regression of ρ̂₂ on R&amp;D intensity.</a:t>
            </a:r>
          </a:p>
        </p:txBody>
      </p:sp>
      <p:pic>
        <p:nvPicPr>
          <p:cNvPr id="3" name="Picture 2" descr="fig9_rho2_regress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Cross-sectional regression of ρ̂₂ on R&amp;D intensity.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3. Capital-stock divergence: observed versus baseline capital stock over time for six representative countries.</a:t>
            </a:r>
          </a:p>
        </p:txBody>
      </p:sp>
      <p:pic>
        <p:nvPicPr>
          <p:cNvPr id="3" name="Picture 2" descr="fig10_k_diverge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Capital-stock divergence: observed versus baseline capital stock over time for six representative countries.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4. Measurement consequence: K-level change vs log-level TFP shift (country means, 2010–2019).</a:t>
            </a:r>
          </a:p>
        </p:txBody>
      </p:sp>
      <p:pic>
        <p:nvPicPr>
          <p:cNvPr id="3" name="Picture 2" descr="fig11_tfp_conseque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Measurement consequence: K-level change vs log-level TFP shift (country means, 2010–2019).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5. Implied labour-share correction from tempo-adjusted capital (country means, 2010–2019).</a:t>
            </a:r>
          </a:p>
        </p:txBody>
      </p:sp>
      <p:pic>
        <p:nvPicPr>
          <p:cNvPr id="3" name="Picture 2" descr="fig12_labor_sha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Implied labour-share correction from tempo-adjusted capital (country means, 2010–2019).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2. Solow-residual decomposition: M0 vs tempo-adjusted (M2) vs joint (M4) for six representative countries.</a:t>
            </a:r>
          </a:p>
        </p:txBody>
      </p:sp>
      <p:pic>
        <p:nvPicPr>
          <p:cNvPr id="3" name="Picture 2" descr="fig13_solow_decom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Solow-residual decomposition: M0 vs tempo-adjusted (M2) vs joint (M4) for six representative countries.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9. National wealth: CWON official vs intangible-adjusted produced capital (2019).</a:t>
            </a:r>
          </a:p>
        </p:txBody>
      </p:sp>
      <p:pic>
        <p:nvPicPr>
          <p:cNvPr id="3" name="Picture 2" descr="fig14_counterfactual_wealth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National wealth: CWON official vs intangible-adjusted produced capital (2019).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10. 2020–2040 GDP-level scenarios (2019=100) for selected countries, including M4 baseline, level-only TFP (2019 held fixed), AI surge, and fiscal-stimulus variants.</a:t>
            </a:r>
          </a:p>
        </p:txBody>
      </p:sp>
      <p:pic>
        <p:nvPicPr>
          <p:cNvPr id="3" name="Picture 2" descr="fig15_future_scenari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2020–2040 GDP-level scenarios (2019=100) for selected countries, including M4 baseline, level-only TFP (2019 held fixed), AI surge, and fiscal-stimulus variants.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11. Country clusters by joint-identified (μ̂, β̂) and asset composition; silhouette and bootstrap-stability metrics support the k=3 partition (Table 10b).</a:t>
            </a:r>
          </a:p>
        </p:txBody>
      </p:sp>
      <p:pic>
        <p:nvPicPr>
          <p:cNvPr id="3" name="Picture 2" descr="fig16_country_cluster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Country clusters by joint-identified (μ̂, β̂) and asset composition; silhouette and bootstrap-stability metrics support the k=3 partition (Table 10b).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12. Time-varying depreciation robustness: median estimated lag.</a:t>
            </a:r>
          </a:p>
        </p:txBody>
      </p:sp>
      <p:pic>
        <p:nvPicPr>
          <p:cNvPr id="3" name="Picture 2" descr="fig17_delta_timevary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Time-varying depreciation robustness: median estimated lag.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13. Monte Carlo identification sharpness for four calibrated economies (United States, Republic of Korea, France, Colombia). Error bars show approximate 95 % confidence intervals for the mean RMSE across parameter cells.</a:t>
            </a:r>
          </a:p>
        </p:txBody>
      </p:sp>
      <p:pic>
        <p:nvPicPr>
          <p:cNvPr id="3" name="Picture 2" descr="fig18_monte_carl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Monte Carlo identification sharpness for four calibrated economies (United States, Republic of Korea, France, Colombia). Error bars show approximate 95 % confidence intervals for the mean RMSE across parameter cells.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14. CWON temporal holdout: in-sample (1995–2014) versus held-out (2015–2019) wealth residuals under M0, production-only, and joint identification.</a:t>
            </a:r>
          </a:p>
        </p:txBody>
      </p:sp>
      <p:pic>
        <p:nvPicPr>
          <p:cNvPr id="3" name="Picture 2" descr="fig_cwon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CWON temporal holdout: in-sample (1995–2014) versus held-out (2015–2019) wealth residuals under M0, production-only, and joint identification.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